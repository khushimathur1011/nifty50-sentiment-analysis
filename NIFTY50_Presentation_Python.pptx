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8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6C-47C9-BC47-129127AB3470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6C-47C9-BC47-129127AB347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6C-47C9-BC47-129127AB347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6C-47C9-BC47-129127AB347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Bullish (Positive)</c:v>
                </c:pt>
                <c:pt idx="1">
                  <c:v>Bearish (Negative)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</c:v>
                </c:pt>
                <c:pt idx="1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6C-47C9-BC47-129127AB3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Bullish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9</c:v>
                </c:pt>
                <c:pt idx="2">
                  <c:v>11</c:v>
                </c:pt>
                <c:pt idx="3">
                  <c:v>9</c:v>
                </c:pt>
                <c:pt idx="4">
                  <c:v>5</c:v>
                </c:pt>
                <c:pt idx="5">
                  <c:v>7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A1-40D5-ABE5-33D4C253DE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Bearish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12</c:v>
                </c:pt>
                <c:pt idx="2">
                  <c:v>10</c:v>
                </c:pt>
                <c:pt idx="3">
                  <c:v>14</c:v>
                </c:pt>
                <c:pt idx="4">
                  <c:v>10</c:v>
                </c:pt>
                <c:pt idx="5">
                  <c:v>11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A1-40D5-ABE5-33D4C253DE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 Price</c:v>
                </c:pt>
              </c:strCache>
            </c:strRef>
          </c:tx>
          <c:spPr>
            <a:ln w="25400" cap="flat">
              <a:solidFill>
                <a:srgbClr val="1E60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60B5"/>
              </a:solidFill>
              <a:ln w="9525" cap="flat">
                <a:solidFill>
                  <a:srgbClr val="1E60B5"/>
                </a:solidFill>
                <a:prstDash val="solid"/>
                <a:round/>
              </a:ln>
              <a:effectLst/>
            </c:spPr>
          </c:marker>
          <c:cat>
            <c:strRef>
              <c:f>Sheet1!$A$2:$A$87</c:f>
              <c:strCache>
                <c:ptCount val="86"/>
                <c:pt idx="0">
                  <c:v>Apr</c:v>
                </c:pt>
                <c:pt idx="12">
                  <c:v>May</c:v>
                </c:pt>
                <c:pt idx="24">
                  <c:v>Jun</c:v>
                </c:pt>
                <c:pt idx="36">
                  <c:v>Jul</c:v>
                </c:pt>
                <c:pt idx="52">
                  <c:v>Aug</c:v>
                </c:pt>
                <c:pt idx="67">
                  <c:v>Sep</c:v>
                </c:pt>
                <c:pt idx="79">
                  <c:v>Oct</c:v>
                </c:pt>
              </c:strCache>
            </c:strRef>
          </c:cat>
          <c:val>
            <c:numRef>
              <c:f>Sheet1!$B$2:$B$87</c:f>
              <c:numCache>
                <c:formatCode>General</c:formatCode>
                <c:ptCount val="86"/>
                <c:pt idx="0">
                  <c:v>23329</c:v>
                </c:pt>
                <c:pt idx="1">
                  <c:v>23437</c:v>
                </c:pt>
                <c:pt idx="2">
                  <c:v>23852</c:v>
                </c:pt>
                <c:pt idx="3">
                  <c:v>24126</c:v>
                </c:pt>
                <c:pt idx="4">
                  <c:v>24346</c:v>
                </c:pt>
                <c:pt idx="5">
                  <c:v>24380</c:v>
                </c:pt>
                <c:pt idx="6">
                  <c:v>24414</c:v>
                </c:pt>
                <c:pt idx="7">
                  <c:v>24274</c:v>
                </c:pt>
                <c:pt idx="8">
                  <c:v>24716</c:v>
                </c:pt>
                <c:pt idx="9">
                  <c:v>24621</c:v>
                </c:pt>
                <c:pt idx="10">
                  <c:v>24751</c:v>
                </c:pt>
                <c:pt idx="11">
                  <c:v>25003</c:v>
                </c:pt>
                <c:pt idx="12">
                  <c:v>25103</c:v>
                </c:pt>
                <c:pt idx="13">
                  <c:v>25104</c:v>
                </c:pt>
                <c:pt idx="14">
                  <c:v>25141</c:v>
                </c:pt>
                <c:pt idx="15">
                  <c:v>24888</c:v>
                </c:pt>
                <c:pt idx="16">
                  <c:v>24947</c:v>
                </c:pt>
                <c:pt idx="17">
                  <c:v>24812</c:v>
                </c:pt>
                <c:pt idx="18">
                  <c:v>25003</c:v>
                </c:pt>
                <c:pt idx="19">
                  <c:v>25244</c:v>
                </c:pt>
                <c:pt idx="20">
                  <c:v>25549</c:v>
                </c:pt>
                <c:pt idx="21">
                  <c:v>25638</c:v>
                </c:pt>
                <c:pt idx="22">
                  <c:v>25517</c:v>
                </c:pt>
                <c:pt idx="23">
                  <c:v>25454</c:v>
                </c:pt>
                <c:pt idx="24">
                  <c:v>25355</c:v>
                </c:pt>
                <c:pt idx="25">
                  <c:v>25150</c:v>
                </c:pt>
                <c:pt idx="26">
                  <c:v>25083</c:v>
                </c:pt>
                <c:pt idx="27">
                  <c:v>25212</c:v>
                </c:pt>
                <c:pt idx="28">
                  <c:v>25111</c:v>
                </c:pt>
                <c:pt idx="29">
                  <c:v>24968</c:v>
                </c:pt>
                <c:pt idx="30">
                  <c:v>25091</c:v>
                </c:pt>
                <c:pt idx="31">
                  <c:v>25061</c:v>
                </c:pt>
                <c:pt idx="32">
                  <c:v>25220</c:v>
                </c:pt>
                <c:pt idx="33">
                  <c:v>25062</c:v>
                </c:pt>
                <c:pt idx="34">
                  <c:v>24837</c:v>
                </c:pt>
                <c:pt idx="35">
                  <c:v>24681</c:v>
                </c:pt>
                <c:pt idx="36">
                  <c:v>24821</c:v>
                </c:pt>
                <c:pt idx="37">
                  <c:v>24855</c:v>
                </c:pt>
                <c:pt idx="38">
                  <c:v>24768</c:v>
                </c:pt>
                <c:pt idx="39">
                  <c:v>24565</c:v>
                </c:pt>
                <c:pt idx="40">
                  <c:v>24723</c:v>
                </c:pt>
                <c:pt idx="41">
                  <c:v>24650</c:v>
                </c:pt>
                <c:pt idx="42">
                  <c:v>24574</c:v>
                </c:pt>
                <c:pt idx="43">
                  <c:v>24596</c:v>
                </c:pt>
                <c:pt idx="44">
                  <c:v>24585</c:v>
                </c:pt>
                <c:pt idx="45">
                  <c:v>24619</c:v>
                </c:pt>
                <c:pt idx="46">
                  <c:v>24631</c:v>
                </c:pt>
                <c:pt idx="47">
                  <c:v>24877</c:v>
                </c:pt>
                <c:pt idx="48">
                  <c:v>24981</c:v>
                </c:pt>
                <c:pt idx="49">
                  <c:v>25051</c:v>
                </c:pt>
                <c:pt idx="50">
                  <c:v>25084</c:v>
                </c:pt>
                <c:pt idx="51">
                  <c:v>24870</c:v>
                </c:pt>
                <c:pt idx="52">
                  <c:v>24968</c:v>
                </c:pt>
                <c:pt idx="53">
                  <c:v>24712</c:v>
                </c:pt>
                <c:pt idx="54">
                  <c:v>24501</c:v>
                </c:pt>
                <c:pt idx="55">
                  <c:v>24427</c:v>
                </c:pt>
                <c:pt idx="56">
                  <c:v>24625</c:v>
                </c:pt>
                <c:pt idx="57">
                  <c:v>24580</c:v>
                </c:pt>
                <c:pt idx="58">
                  <c:v>24715</c:v>
                </c:pt>
                <c:pt idx="59">
                  <c:v>24734</c:v>
                </c:pt>
                <c:pt idx="60">
                  <c:v>24741</c:v>
                </c:pt>
                <c:pt idx="61">
                  <c:v>24773</c:v>
                </c:pt>
                <c:pt idx="62">
                  <c:v>24869</c:v>
                </c:pt>
                <c:pt idx="63">
                  <c:v>24973</c:v>
                </c:pt>
                <c:pt idx="64">
                  <c:v>25006</c:v>
                </c:pt>
                <c:pt idx="65">
                  <c:v>25114</c:v>
                </c:pt>
                <c:pt idx="66">
                  <c:v>25069</c:v>
                </c:pt>
                <c:pt idx="67">
                  <c:v>25239</c:v>
                </c:pt>
                <c:pt idx="68">
                  <c:v>25330</c:v>
                </c:pt>
                <c:pt idx="69">
                  <c:v>25424</c:v>
                </c:pt>
                <c:pt idx="70">
                  <c:v>25327</c:v>
                </c:pt>
                <c:pt idx="71">
                  <c:v>25202</c:v>
                </c:pt>
                <c:pt idx="72">
                  <c:v>25170</c:v>
                </c:pt>
                <c:pt idx="73">
                  <c:v>25057</c:v>
                </c:pt>
                <c:pt idx="74">
                  <c:v>24891</c:v>
                </c:pt>
                <c:pt idx="75">
                  <c:v>24635</c:v>
                </c:pt>
                <c:pt idx="76">
                  <c:v>24611</c:v>
                </c:pt>
                <c:pt idx="77">
                  <c:v>24836</c:v>
                </c:pt>
                <c:pt idx="78">
                  <c:v>24894</c:v>
                </c:pt>
                <c:pt idx="79">
                  <c:v>25078</c:v>
                </c:pt>
                <c:pt idx="80">
                  <c:v>25108</c:v>
                </c:pt>
                <c:pt idx="81">
                  <c:v>25046</c:v>
                </c:pt>
                <c:pt idx="82">
                  <c:v>25182</c:v>
                </c:pt>
                <c:pt idx="83">
                  <c:v>25285</c:v>
                </c:pt>
                <c:pt idx="84">
                  <c:v>25227</c:v>
                </c:pt>
                <c:pt idx="85">
                  <c:v>25146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C9C-44A2-9524-E793E88A6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000"/>
          <c:min val="228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Bearish Class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93.3</c:v>
                </c:pt>
                <c:pt idx="1">
                  <c:v>100</c:v>
                </c:pt>
                <c:pt idx="2">
                  <c:v>96.6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26-4317-9AD1-1FD75362E1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Bullish Class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91.7</c:v>
                </c:pt>
                <c:pt idx="2">
                  <c:v>95.7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26-4317-9AD1-1FD75362E1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3"/>
          <c:min val="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77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33E7C">
              <a:alpha val="60000"/>
            </a:srgbClr>
          </a:solidFill>
          <a:ln w="12700">
            <a:solidFill>
              <a:srgbClr val="133E7C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0"/>
            <a:ext cx="2743200" cy="2743200"/>
          </a:xfrm>
          <a:prstGeom prst="ellipse">
            <a:avLst/>
          </a:prstGeom>
          <a:solidFill>
            <a:srgbClr val="1E60B5">
              <a:alpha val="45000"/>
            </a:srgbClr>
          </a:solidFill>
          <a:ln w="12700">
            <a:solidFill>
              <a:srgbClr val="1E60B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23774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STUDENT PROJECT · NSE INDIA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&amp;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of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4048" y="235915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84048" y="321868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84048" y="3913632"/>
            <a:ext cx="3474720" cy="27432"/>
          </a:xfrm>
          <a:prstGeom prst="rect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Dataset: </a:t>
            </a:r>
            <a:r>
              <a:rPr lang="en-US" sz="1100" dirty="0">
                <a:solidFill>
                  <a:srgbClr val="E2E8F0"/>
                </a:solidFill>
              </a:rPr>
              <a:t>Apr–Oct 2025  ·  126 Trading Days  ·  Logistic Regression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640080"/>
            <a:ext cx="2468880" cy="1097280"/>
          </a:xfrm>
          <a:prstGeom prst="rect">
            <a:avLst/>
          </a:prstGeom>
          <a:solidFill>
            <a:srgbClr val="133E7C"/>
          </a:solidFill>
          <a:ln w="6350">
            <a:solidFill>
              <a:srgbClr val="1E60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658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11704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2468880" cy="1097280"/>
          </a:xfrm>
          <a:prstGeom prst="rect">
            <a:avLst/>
          </a:prstGeom>
          <a:solidFill>
            <a:srgbClr val="133E7C"/>
          </a:solidFill>
          <a:ln w="6350">
            <a:solidFill>
              <a:srgbClr val="1E60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IN" dirty="0"/>
              <a:t>4</a:t>
            </a:r>
          </a:p>
        </p:txBody>
      </p:sp>
      <p:sp>
        <p:nvSpPr>
          <p:cNvPr id="17" name="Text 15"/>
          <p:cNvSpPr/>
          <p:nvPr/>
        </p:nvSpPr>
        <p:spPr>
          <a:xfrm>
            <a:off x="6309360" y="19842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2496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291840"/>
            <a:ext cx="2468880" cy="1097280"/>
          </a:xfrm>
          <a:prstGeom prst="rect">
            <a:avLst/>
          </a:prstGeom>
          <a:solidFill>
            <a:srgbClr val="133E7C"/>
          </a:solidFill>
          <a:ln w="6350">
            <a:solidFill>
              <a:srgbClr val="1E60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3101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vs 67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9360" y="38221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/ Bear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502920" cy="1051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184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stock market direction?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77440"/>
            <a:ext cx="502920" cy="1051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852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we used &amp; how we cleaned 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611880"/>
            <a:ext cx="502920" cy="1051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prices into emotions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14300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14300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234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6184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that reveal the 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3774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7744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2468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8529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computer learns to predict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1188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703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087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 accuracy — what does it mean?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Does This Matter?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stock market go UP or DOWN today?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286000"/>
            <a:ext cx="269748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4505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944368"/>
            <a:ext cx="24871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investors try to guess this every day — most guess wrong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286000"/>
            <a:ext cx="2697480" cy="109728"/>
          </a:xfrm>
          <a:prstGeom prst="rect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4505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944368"/>
            <a:ext cx="24871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Machine Learning algorithm study patterns from real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28600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24505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2944368"/>
            <a:ext cx="24871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classifies each trading day as Positive or Negative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Think of it like a weather forecast — but for the stock market!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Our Raw Ingredients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— NSE India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74904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 – Oct 14,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37490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4505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trading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374904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723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0723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clean data!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48456"/>
            <a:ext cx="37490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9417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69417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Stock Exchange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Columns We Used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8032" y="1755648"/>
            <a:ext cx="914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17556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Date: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17556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When the trading happened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2185416"/>
            <a:ext cx="914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1854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Open: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21854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Price at market opening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615184"/>
            <a:ext cx="9144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26151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High: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26151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Highest point of the 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3044952"/>
            <a:ext cx="9144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0449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Low: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30449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Lowest point of the day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3474720"/>
            <a:ext cx="91440" cy="329184"/>
          </a:xfrm>
          <a:prstGeom prst="rect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3474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Close: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34747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Price at market close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28032" y="3904488"/>
            <a:ext cx="914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9044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Shares Traded: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390448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shares bought/sold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4334256"/>
            <a:ext cx="9144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92624" y="43342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Turnover: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91072" y="43342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money exchanged (₹Cr)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— Turning Prices into Emotions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713232"/>
          </a:xfrm>
          <a:prstGeom prst="rect">
            <a:avLst/>
          </a:prstGeom>
          <a:solidFill>
            <a:srgbClr val="133E7C"/>
          </a:solidFill>
          <a:ln w="12700">
            <a:solidFill>
              <a:srgbClr val="133E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Simple Rule:  Did the market END higher than it STARTED today?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069080" cy="2606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40690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20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POSITIVE  (Bullish)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&gt;  Open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The market closed HIGHER than it opened.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Like waking up and ending the day happier! 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59 days  (46.8%)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4069080" cy="260604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20240"/>
            <a:ext cx="40690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20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NEGATIVE  (Bearish)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57860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&lt;  Open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The market closed LOWER than it opened.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Like starting fresh but ending the day tired. 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429768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67 days  (53.2%)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4 Charts That Tell the Story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4206240" cy="411480"/>
          </a:xfrm>
          <a:prstGeom prst="rect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01  Pie Chart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Split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Bullish vs 53.2% Bearish — nearly even! Market was balanced, not trending hard in either direction.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78992"/>
            <a:ext cx="4206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02  Bar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Breakdown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0195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had the most bearish days (14). October had the most bullish days (13). Events drive monthly mood.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20624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03  Timeline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Sentiment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trading day — green for up, red for down. You can see clusters of red (panic) and green (recovery).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17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04  Heatmap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493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High, Low, Close are all 99%+ correlated. Shares Traded &amp; Turnover correlate with each other (72%).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— Sentiment Distribution (Pie)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97280"/>
            <a:ext cx="109728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1888" y="1115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961888" y="15727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Bullish Days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61888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46.8%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359152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359152"/>
            <a:ext cx="109728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377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61888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Bearish Days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61888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53.2%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3621024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621024"/>
            <a:ext cx="109728" cy="1078992"/>
          </a:xfrm>
          <a:prstGeom prst="rect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3639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6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961888" y="40965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Day Difference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61888" y="4352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Nearly 50-50!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Key Insight: The market was NEARLY BALANCED — no strong bull or bear trend overall.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— Monthly Sentiment Breakdown (Bar)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62179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05156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0" y="10789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0" y="1353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Most bullish month — 13 positive days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766560" y="20574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2084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0" y="2359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Most bearish month — 14 negative days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30632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0" y="3090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Slight bull edge, market recovering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40690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0" y="4096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0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Rough month — consolidation phase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— NIFTY 50 Close Price Timeline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85039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NIFTY 50 climbed from ~23,329 in April to a peak of ~25,638 in late June, then pulled back and consolidated around 24,500–25,000.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— Correlation Heatmap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31920" cy="914400"/>
          </a:xfrm>
          <a:prstGeom prst="rect">
            <a:avLst/>
          </a:prstGeom>
          <a:solidFill>
            <a:srgbClr val="133E7C"/>
          </a:solidFill>
          <a:ln w="12700">
            <a:solidFill>
              <a:srgbClr val="133E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42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What is Correlation?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 score from -1 to +1 showing how two things move together. +1 = always together, 0 = no link, -1 = opposites.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73168" y="10241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Open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67528" y="10241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1888" y="10241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56248" y="10241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Close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50608" y="10241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Shares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44968" y="10241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Turnover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39328" y="10241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Senti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140817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</a:rPr>
              <a:t>Open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140817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4081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67528" y="140817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14081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88" y="140817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14081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56248" y="140817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14081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50608" y="140817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4081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44968" y="140817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14081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39328" y="140817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14081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195681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</a:rPr>
              <a:t>High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195681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9568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67528" y="195681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19568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61888" y="195681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19568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56248" y="195681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19568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50608" y="19568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0608" y="19568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44968" y="195681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44968" y="19568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339328" y="19568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9328" y="19568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0" y="250545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</a:rPr>
              <a:t>Low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73168" y="250545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250545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67528" y="250545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67528" y="250545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61888" y="250545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250545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56248" y="250545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56248" y="250545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150608" y="250545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250545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44968" y="250545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44968" y="250545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339328" y="250545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9328" y="250545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14800" y="305409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</a:rPr>
              <a:t>Close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73168" y="305409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305409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67528" y="305409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67528" y="305409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61888" y="305409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61888" y="305409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0.99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56248" y="305409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6248" y="305409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150608" y="305409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50608" y="305409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0.02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744968" y="305409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44968" y="305409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339328" y="305409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39328" y="305409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114800" y="360273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</a:rPr>
              <a:t>Shares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773168" y="360273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73168" y="360273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367528" y="360273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67528" y="360273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0.01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961888" y="360273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61888" y="360273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556248" y="360273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56248" y="360273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150608" y="360273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50608" y="360273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744968" y="3602736"/>
            <a:ext cx="55778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44968" y="360273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0.72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339328" y="360273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39328" y="360273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0.03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114800" y="415137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</a:rPr>
              <a:t>Turnover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773168" y="415137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73168" y="41513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0.15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367528" y="415137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67528" y="41513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0.14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961888" y="415137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961888" y="41513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0.16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556248" y="4151376"/>
            <a:ext cx="557784" cy="5029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56248" y="41513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0.14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150608" y="4151376"/>
            <a:ext cx="55778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50608" y="41513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532D"/>
                </a:solidFill>
              </a:rPr>
              <a:t>0.72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744968" y="415137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744968" y="41513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339328" y="415137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339328" y="415137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0.05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4114800" y="4700016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</a:rPr>
              <a:t>Senti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773168" y="47000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73168" y="47000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367528" y="47000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367528" y="47000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-0.04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961888" y="47000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61888" y="47000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-0.07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556248" y="47000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556248" y="47000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-0.06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7150608" y="47000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50608" y="47000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0.03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744968" y="4700016"/>
            <a:ext cx="55778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44968" y="47000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0.05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8339328" y="4700016"/>
            <a:ext cx="557784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39328" y="4700016"/>
            <a:ext cx="55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320040" y="210312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411480" y="22128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411480" y="26334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•  Open, High, Low, Close are 99%+ correlated — they all track the same index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11480" y="3291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•  Shares Traded &amp; Turnover correlate at 72% — busy days = more money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411480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•  Sentiment has LOW correlation with raw prices — direction ≠ level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Machine Learns — Logistic Regression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658368"/>
          </a:xfrm>
          <a:prstGeom prst="rect">
            <a:avLst/>
          </a:prstGeom>
          <a:solidFill>
            <a:srgbClr val="133E7C"/>
          </a:solidFill>
          <a:ln w="12700">
            <a:solidFill>
              <a:srgbClr val="133E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Analogy: It's like a student who studies 100 past exam papers → learns patterns → predicts the next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011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792224"/>
            <a:ext cx="731520" cy="731520"/>
          </a:xfrm>
          <a:prstGeom prst="ellipse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1720" y="320040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237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Give the model all 6 features: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Open, High, Low, Close,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Shares Traded, Turnover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96312" y="1901952"/>
            <a:ext cx="2011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792224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07992" y="320040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2809" y="25237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(80%)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87752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Model studies 100 sessions and finds patterns that separate Positive from Negative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72584" y="1874520"/>
            <a:ext cx="2011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12664" y="16916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84264" y="320040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25054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64024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Model sees 26 BRAND NEW sessions it has never seen before — can it predict correctly?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48856" y="1874520"/>
            <a:ext cx="2011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88936" y="1714500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88936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0296" y="24643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296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Count how many times it was right. Calculate Accuracy &amp; Precision scores.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StandardScaler was applied first — so no single feature dominates just because it has bigger numbers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How Good Is Our Model?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2560320" cy="2331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Overall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25 out of 26 correct!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024128"/>
            <a:ext cx="2560320" cy="2331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234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10896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Weighted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6974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Very reliable predictions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97880" y="10241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→ Predicted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97880" y="18288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Act.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Bear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8346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Act.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Bull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1572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Pred. Bear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0" y="1572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Pred. Bull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10058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019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6534"/>
                </a:solidFill>
              </a:rPr>
              <a:t>14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True Neg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98080" y="1874520"/>
            <a:ext cx="1005840" cy="91440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9019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1D1D"/>
                </a:solidFill>
              </a:rPr>
              <a:t>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98080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</a:rPr>
              <a:t>False Pos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2852928"/>
            <a:ext cx="1005840" cy="91440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880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1D1D"/>
                </a:solidFill>
              </a:rPr>
              <a:t>1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3355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</a:rPr>
              <a:t>False Neg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0" y="2852928"/>
            <a:ext cx="10058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880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6534"/>
                </a:solidFill>
              </a:rPr>
              <a:t>11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98080" y="3355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True Pos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547872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6118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What this means: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9502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100% Precision on Bullish predictions</a:t>
            </a:r>
            <a:r>
              <a:rPr lang="en-US" dirty="0">
                <a:solidFill>
                  <a:srgbClr val="334155"/>
                </a:solidFill>
              </a:rPr>
              <a:t> — when it says 'market will go up', it's NEVER wrong!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" y="43159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Only 1 mistake in 26 test sessions — missed 1 bullish day, predicted it as bearish.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Class-by-Class Breakdown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005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1005840"/>
            <a:ext cx="91440" cy="1188720"/>
          </a:xfrm>
          <a:prstGeom prst="rect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36208" y="10241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Precision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36208" y="13533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0B5"/>
                </a:solidFill>
              </a:rPr>
              <a:t>96.4%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36208" y="17007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When it predicts UP/DOWN, how often is it RIGHT?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2331720"/>
            <a:ext cx="914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2350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Recall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36208" y="26791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95.8%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36208" y="30266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Of all actual UP days, how many did it CATCH?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36576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65760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3675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F1-Score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36208" y="40050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96.2%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36208" y="43525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Combined balance of Precision &amp; Recall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What Did We Learn?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91440" cy="1188720"/>
          </a:xfrm>
          <a:prstGeom prst="rect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Market Was Balanced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53.2% bearish vs 46.8% bullish — the NIFTY 50 was in a consolidation phase, not a clear bull or bear market.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7899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78992"/>
            <a:ext cx="914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Simple Model, Great Results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1790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Logistic Regression — one of the SIMPLEST ML models — achieved 96.2% accuracy using just 6 basic market variables.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04872"/>
            <a:ext cx="9144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96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Close Price Is 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'Close' feature had the highest coefficient (+0.88), meaning it's the biggest driver of next-day sentiment prediction.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0487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404872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96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Volume Doesn't Decide Direction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84378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High trading volume doesn't mean the market goes up. Shares Traded had near-zero correlation with sentiment (−0.28 coefficient).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307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30752"/>
            <a:ext cx="91440" cy="11887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22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Perfect Bullish Precision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6966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When the model predicted a bullish day, it was ALWAYS right — 100% precision. Zero false bullish signals in testing!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307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30752"/>
            <a:ext cx="91440" cy="1188720"/>
          </a:xfrm>
          <a:prstGeom prst="rect">
            <a:avLst/>
          </a:prstGeom>
          <a:solidFill>
            <a:srgbClr val="133E7C"/>
          </a:solidFill>
          <a:ln w="12700">
            <a:solidFill>
              <a:srgbClr val="133E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22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Events Drive Monthly Mood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16966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July was most bearish (possibly macro events), October most bullish. Market sentiment is shaped by real-world news.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— What's Next?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594360"/>
          </a:xfrm>
          <a:prstGeom prst="rect">
            <a:avLst/>
          </a:prstGeom>
          <a:solidFill>
            <a:srgbClr val="133E7C"/>
          </a:solidFill>
          <a:ln w="12700">
            <a:solidFill>
              <a:srgbClr val="133E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This project is just the beginning. Here's how to make it even more powerful: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28800"/>
            <a:ext cx="2011680" cy="384048"/>
          </a:xfrm>
          <a:prstGeom prst="rect">
            <a:avLst/>
          </a:prstGeom>
          <a:solidFill>
            <a:srgbClr val="1E60B5"/>
          </a:solidFill>
          <a:ln w="12700">
            <a:solidFill>
              <a:srgbClr val="1E60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Technical Indicators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1828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RSI, MACD, Bollinger Bands — advanced trading signals used by professionals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6312" y="182880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82880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Deep Learning (LSTM)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880360"/>
            <a:ext cx="1828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Neural networks that understand TIME patterns — remembers what happened 10 days ago!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182880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828800"/>
            <a:ext cx="2011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Sentiment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4024" y="2880360"/>
            <a:ext cx="1828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Instead of just Up/Down, predict: Strong Bull / Neutral / Strong Bear using return thresholds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48856" y="182880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48856" y="1828800"/>
            <a:ext cx="20116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0296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0296" y="2880360"/>
            <a:ext cx="1828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Connect to NSE live data API — get predictions every morning before market opens!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33E7C">
              <a:alpha val="50000"/>
            </a:srgbClr>
          </a:solidFill>
          <a:ln w="12700">
            <a:solidFill>
              <a:srgbClr val="133E7C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2651760"/>
            <a:ext cx="6400800" cy="27432"/>
          </a:xfrm>
          <a:prstGeom prst="rect">
            <a:avLst/>
          </a:prstGeom>
          <a:solidFill>
            <a:srgbClr val="133E7C"/>
          </a:solidFill>
          <a:ln w="12700">
            <a:solidFill>
              <a:srgbClr val="133E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Trading 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834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3464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ML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Charts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7512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Features 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Sentiment Analysis and Data Visualization of NIFTY 50 using Machine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Dataset: NSE India (Apr–Oct 2025)  ·  Model: Logistic Regression (Scikit-learn)  ·  Inspired by ML-based Stock Trend Forecasting Research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4263</TotalTime>
  <Words>1338</Words>
  <Application>Microsoft Office PowerPoint</Application>
  <PresentationFormat>On-screen Show (16:9)</PresentationFormat>
  <Paragraphs>296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50 Sentiment Analysis using Machine Learning</dc:title>
  <dc:subject>PptxGenJS Presentation</dc:subject>
  <dc:creator>PptxGenJS</dc:creator>
  <cp:lastModifiedBy>Khushi Mathur</cp:lastModifiedBy>
  <cp:revision>4</cp:revision>
  <dcterms:created xsi:type="dcterms:W3CDTF">2026-05-05T05:12:19Z</dcterms:created>
  <dcterms:modified xsi:type="dcterms:W3CDTF">2026-05-08T04:31:09Z</dcterms:modified>
</cp:coreProperties>
</file>